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Claude는 Anthropic이 만든 AI 어시스턴트입니다. 오늘은 회사 개요, 모델과 제품, 안전에 대한 접근을 소개합니다.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Anthropic은 OpenAI 출신 연구자들이 2021년에 설립한 AI 안전 연구 기업입니다. 공익법인 형태로 이윤뿐 아니라 공공의 이익을 함께 고려하도록 설계되어 있습니다. 안전 연구 성과를 실제 제품인 Claude에 적용하는 것이 특징입니다.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Claude는 용도에 따라 여러 모델로 제공됩니다. 개인 사용자는 Claude.ai 앱으로, 개발자는 API와 Agent SDK로, 소프트웨어 개발 작업은 Claude Code로 활용할 수 있습니다. 기업용 플랜은 보안과 관리 기능을 제공합니다.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Constitutional AI는 명시적인 원칙 목록을 바탕으로 모델이 스스로 응답을 평가·개선하도록 학습하는 방법입니다. Responsible Scaling Policy는 모델 능력이 높아질수록 더 엄격한 안전 조치를 요구하는 정책입니다. 해석 가능성 연구는 신경망 내부에서 어떤 개념이 어떻게 표현되는지 밝히는 연구입니다.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246120"/>
            <a:ext cx="1371600" cy="73152"/>
          </a:xfrm>
          <a:prstGeom prst="rect">
            <a:avLst/>
          </a:prstGeom>
          <a:solidFill>
            <a:srgbClr val="C86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169164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Anthropic &amp;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0">
                <a:solidFill>
                  <a:srgbClr val="DDDDDD"/>
                </a:solidFill>
                <a:latin typeface="맑은 고딕"/>
                <a:ea typeface="맑은 고딕"/>
                <a:cs typeface="맑은 고딕"/>
              </a:rPr>
              <a:t>안전하고 유용한 AI를 만드는 회사</a:t>
            </a:r>
          </a:p>
          <a:p>
            <a:pPr algn="l"/>
            <a:r>
              <a:rPr sz="2000" b="0" i="0">
                <a:solidFill>
                  <a:srgbClr val="DDDDDD"/>
                </a:solidFill>
                <a:latin typeface="맑은 고딕"/>
                <a:ea typeface="맑은 고딕"/>
                <a:cs typeface="맑은 고딕"/>
              </a:rPr>
              <a:t>2026.10.18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/>
            <a:r>
              <a:rPr sz="2800" b="1" i="0">
                <a:solidFill>
                  <a:srgbClr val="D97757"/>
                </a:solidFill>
                <a:latin typeface="맑은 고딕"/>
                <a:ea typeface="맑은 고딕"/>
                <a:cs typeface="맑은 고딕"/>
              </a:rPr>
              <a:t>회사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54864"/>
          </a:xfrm>
          <a:prstGeom prst="rect">
            <a:avLst/>
          </a:prstGeom>
          <a:solidFill>
            <a:srgbClr val="C86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4754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Bef>
                <a:spcPts val="1000"/>
              </a:spcBef>
              <a:buChar char="•"/>
            </a:pPr>
            <a:r>
              <a:rPr sz="22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2021년 설립, 미국 샌프란시스코 본사</a:t>
            </a:r>
          </a:p>
          <a:p>
            <a:pPr marL="274320" indent="-274320">
              <a:spcBef>
                <a:spcPts val="1000"/>
              </a:spcBef>
              <a:buChar char="•"/>
            </a:pPr>
            <a:r>
              <a:rPr sz="22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공동창업자: Dario Amodei(CEO), Daniela Amodei(President) 등</a:t>
            </a:r>
          </a:p>
          <a:p>
            <a:pPr marL="274320" indent="-274320">
              <a:spcBef>
                <a:spcPts val="1000"/>
              </a:spcBef>
              <a:buChar char="•"/>
            </a:pPr>
            <a:r>
              <a:rPr sz="22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공익법인(Public Benefit Corporation) 형태</a:t>
            </a:r>
          </a:p>
          <a:p>
            <a:pPr marL="274320" indent="-274320">
              <a:spcBef>
                <a:spcPts val="1000"/>
              </a:spcBef>
              <a:buChar char="•"/>
            </a:pPr>
            <a:r>
              <a:rPr sz="22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미션: 신뢰할 수 있고, 해석 가능하며, 조종 가능한 AI</a:t>
            </a:r>
          </a:p>
          <a:p>
            <a:pPr marL="274320" indent="-274320">
              <a:spcBef>
                <a:spcPts val="1000"/>
              </a:spcBef>
              <a:buChar char="•"/>
            </a:pPr>
            <a:r>
              <a:rPr sz="22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AI 안전 연구와 상용 제품을 함께 추진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7A6E66"/>
                </a:solidFill>
                <a:latin typeface="맑은 고딕"/>
                <a:ea typeface="맑은 고딕"/>
                <a:cs typeface="맑은 고딕"/>
              </a:rPr>
              <a:t>Anthropic &amp; Claude 회사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7A6E6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/>
            <a:r>
              <a:rPr sz="2800" b="1" i="0">
                <a:solidFill>
                  <a:srgbClr val="D97757"/>
                </a:solidFill>
                <a:latin typeface="맑은 고딕"/>
                <a:ea typeface="맑은 고딕"/>
                <a:cs typeface="맑은 고딕"/>
              </a:rPr>
              <a:t>Claude 모델과 제품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54864"/>
          </a:xfrm>
          <a:prstGeom prst="rect">
            <a:avLst/>
          </a:prstGeom>
          <a:solidFill>
            <a:srgbClr val="C86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3186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C8601E"/>
                </a:solidFill>
                <a:latin typeface="맑은 고딕"/>
                <a:ea typeface="맑은 고딕"/>
                <a:cs typeface="맑은 고딕"/>
              </a:rPr>
              <a:t>모델 라인업 (Claude 5 계열)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531860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Bef>
                <a:spcPts val="1000"/>
              </a:spcBef>
              <a:buChar char="•"/>
            </a:pPr>
            <a:r>
              <a:rPr sz="20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Opus 5.5: 최고 성능, 복잡한 추론</a:t>
            </a:r>
          </a:p>
          <a:p>
            <a:pPr marL="274320" indent="-274320">
              <a:spcBef>
                <a:spcPts val="1000"/>
              </a:spcBef>
              <a:buChar char="•"/>
            </a:pPr>
            <a:r>
              <a:rPr sz="20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Sonnet 5.5: 성능과 속도의 균형</a:t>
            </a:r>
          </a:p>
          <a:p>
            <a:pPr marL="274320" indent="-274320">
              <a:spcBef>
                <a:spcPts val="1000"/>
              </a:spcBef>
              <a:buChar char="•"/>
            </a:pPr>
            <a:r>
              <a:rPr sz="20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Haiku 5.5: 빠르고 경제적</a:t>
            </a:r>
          </a:p>
          <a:p>
            <a:pPr marL="274320" indent="-274320">
              <a:spcBef>
                <a:spcPts val="1000"/>
              </a:spcBef>
              <a:buChar char="•"/>
            </a:pPr>
            <a:r>
              <a:rPr sz="20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Fable 5.1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08760"/>
            <a:ext cx="53186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C8601E"/>
                </a:solidFill>
                <a:latin typeface="맑은 고딕"/>
                <a:ea typeface="맑은 고딕"/>
                <a:cs typeface="맑은 고딕"/>
              </a:rPr>
              <a:t>주요 제품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57400"/>
            <a:ext cx="531860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Bef>
                <a:spcPts val="1000"/>
              </a:spcBef>
              <a:buChar char="•"/>
            </a:pPr>
            <a:r>
              <a:rPr sz="20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Claude.ai: 웹·데스크톱·모바일 앱</a:t>
            </a:r>
          </a:p>
          <a:p>
            <a:pPr marL="274320" indent="-274320">
              <a:spcBef>
                <a:spcPts val="1000"/>
              </a:spcBef>
              <a:buChar char="•"/>
            </a:pPr>
            <a:r>
              <a:rPr sz="20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Claude Code: 터미널·IDE 코딩 에이전트</a:t>
            </a:r>
          </a:p>
          <a:p>
            <a:pPr marL="274320" indent="-274320">
              <a:spcBef>
                <a:spcPts val="1000"/>
              </a:spcBef>
              <a:buChar char="•"/>
            </a:pPr>
            <a:r>
              <a:rPr sz="20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Claude API · Agent SDK</a:t>
            </a:r>
          </a:p>
          <a:p>
            <a:pPr marL="274320" indent="-274320">
              <a:spcBef>
                <a:spcPts val="1000"/>
              </a:spcBef>
              <a:buChar char="•"/>
            </a:pPr>
            <a:r>
              <a:rPr sz="20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기업용 플랜(Team / Enterprise)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7A6E66"/>
                </a:solidFill>
                <a:latin typeface="맑은 고딕"/>
                <a:ea typeface="맑은 고딕"/>
                <a:cs typeface="맑은 고딕"/>
              </a:rPr>
              <a:t>Anthropic &amp; Claude 회사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7A6E66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/>
            <a:r>
              <a:rPr sz="2800" b="1" i="0">
                <a:solidFill>
                  <a:srgbClr val="D97757"/>
                </a:solidFill>
                <a:latin typeface="맑은 고딕"/>
                <a:ea typeface="맑은 고딕"/>
                <a:cs typeface="맑은 고딕"/>
              </a:rPr>
              <a:t>안전을 중심에 둔 접근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54864"/>
          </a:xfrm>
          <a:prstGeom prst="rect">
            <a:avLst/>
          </a:prstGeom>
          <a:solidFill>
            <a:srgbClr val="C86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4754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Bef>
                <a:spcPts val="1000"/>
              </a:spcBef>
              <a:buChar char="•"/>
            </a:pPr>
            <a:r>
              <a:rPr sz="22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Constitutional AI: 원칙(헌법) 기반으로 모델 행동 학습</a:t>
            </a:r>
          </a:p>
          <a:p>
            <a:pPr marL="274320" indent="-274320">
              <a:spcBef>
                <a:spcPts val="1000"/>
              </a:spcBef>
              <a:buChar char="•"/>
            </a:pPr>
            <a:r>
              <a:rPr sz="22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Responsible Scaling Policy: 능력 수준별 안전 기준</a:t>
            </a:r>
          </a:p>
          <a:p>
            <a:pPr marL="274320" indent="-274320">
              <a:spcBef>
                <a:spcPts val="1000"/>
              </a:spcBef>
              <a:buChar char="•"/>
            </a:pPr>
            <a:r>
              <a:rPr sz="22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해석 가능성(Interpretability) 연구: 모델 내부 작동 이해</a:t>
            </a:r>
          </a:p>
          <a:p>
            <a:pPr marL="274320" indent="-274320">
              <a:spcBef>
                <a:spcPts val="1000"/>
              </a:spcBef>
              <a:buChar char="•"/>
            </a:pPr>
            <a:r>
              <a:rPr sz="22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레드팀 평가와 정책 연구로 위험 사전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7A6E66"/>
                </a:solidFill>
                <a:latin typeface="맑은 고딕"/>
                <a:ea typeface="맑은 고딕"/>
                <a:cs typeface="맑은 고딕"/>
              </a:rPr>
              <a:t>Anthropic &amp; Claude 회사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7A6E66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246120"/>
            <a:ext cx="1371600" cy="73152"/>
          </a:xfrm>
          <a:prstGeom prst="rect">
            <a:avLst/>
          </a:prstGeom>
          <a:solidFill>
            <a:srgbClr val="C86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169164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0">
                <a:solidFill>
                  <a:srgbClr val="DDDDDD"/>
                </a:solidFill>
                <a:latin typeface="맑은 고딕"/>
                <a:ea typeface="맑은 고딕"/>
                <a:cs typeface="맑은 고딕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 &amp; Claude 회사 소개</dc:title>
  <dc:subject/>
  <dc:creator>최운겸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